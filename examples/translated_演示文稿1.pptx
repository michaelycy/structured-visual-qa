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tags" Target="../tags/tag65.xml"/><Relationship Id="rId4" Type="http://schemas.openxmlformats.org/officeDocument/2006/relationships/tags" Target="../tags/tag66.xml"/><Relationship Id="rId5" Type="http://schemas.openxmlformats.org/officeDocument/2006/relationships/tags" Target="../tags/tag67.xml"/><Relationship Id="rId6" Type="http://schemas.openxmlformats.org/officeDocument/2006/relationships/tags" Target="../tags/tag68.xml"/><Relationship Id="rId7" Type="http://schemas.openxmlformats.org/officeDocument/2006/relationships/tags" Target="../tags/tag69.xml"/><Relationship Id="rId8" Type="http://schemas.openxmlformats.org/officeDocument/2006/relationships/tags" Target="../tags/tag70.xml"/><Relationship Id="rId9" Type="http://schemas.openxmlformats.org/officeDocument/2006/relationships/tags" Target="../tags/tag71.xml"/><Relationship Id="rId10" Type="http://schemas.openxmlformats.org/officeDocument/2006/relationships/tags" Target="../tags/tag72.xml"/><Relationship Id="rId11" Type="http://schemas.openxmlformats.org/officeDocument/2006/relationships/tags" Target="../tags/tag73.xml"/><Relationship Id="rId12" Type="http://schemas.openxmlformats.org/officeDocument/2006/relationships/tags" Target="../tags/tag74.xml"/><Relationship Id="rId13" Type="http://schemas.openxmlformats.org/officeDocument/2006/relationships/tags" Target="../tags/tag75.xml"/><Relationship Id="rId14" Type="http://schemas.openxmlformats.org/officeDocument/2006/relationships/tags" Target="../tags/tag76.xml"/><Relationship Id="rId15" Type="http://schemas.openxmlformats.org/officeDocument/2006/relationships/tags" Target="../tags/tag77.xml"/><Relationship Id="rId16" Type="http://schemas.openxmlformats.org/officeDocument/2006/relationships/tags" Target="../tags/tag78.xml"/><Relationship Id="rId17" Type="http://schemas.openxmlformats.org/officeDocument/2006/relationships/tags" Target="../tags/tag79.xml"/><Relationship Id="rId18" Type="http://schemas.openxmlformats.org/officeDocument/2006/relationships/tags" Target="../tags/tag80.xml"/><Relationship Id="rId19" Type="http://schemas.openxmlformats.org/officeDocument/2006/relationships/tags" Target="../tags/tag81.xml"/><Relationship Id="rId20" Type="http://schemas.openxmlformats.org/officeDocument/2006/relationships/tags" Target="../tags/tag82.xml"/><Relationship Id="rId21" Type="http://schemas.openxmlformats.org/officeDocument/2006/relationships/tags" Target="../tags/tag83.xml"/><Relationship Id="rId22" Type="http://schemas.openxmlformats.org/officeDocument/2006/relationships/tags" Target="../tags/tag84.xml"/><Relationship Id="rId23" Type="http://schemas.openxmlformats.org/officeDocument/2006/relationships/tags" Target="../tags/tag85.xml"/><Relationship Id="rId24" Type="http://schemas.openxmlformats.org/officeDocument/2006/relationships/tags" Target="../tags/tag86.xml"/><Relationship Id="rId25" Type="http://schemas.openxmlformats.org/officeDocument/2006/relationships/tags" Target="../tags/tag87.xml"/><Relationship Id="rId26" Type="http://schemas.openxmlformats.org/officeDocument/2006/relationships/slideLayout" Target="../slideLayouts/slideLayout12.xml"/><Relationship Id="rId2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546862" y="229362"/>
            <a:ext cx="6858000" cy="605155"/>
          </a:xfrm>
          <a:prstGeom prst="rect">
            <a:avLst/>
          </a:prstGeom>
          <a:noFill/>
        </p:spPr>
        <p:txBody>
          <a:bodyPr wrap="square">
            <a:noAutofit/>
          </a:bodyPr>
          <a:lstStyle/>
          <a:p>
            <a:pPr marL="0" indent="0"/>
            <a:r>
              <a:rPr sz="2500" b="1" i="0">
                <a:solidFill>
                  <a:srgbClr val="FFFFFF"/>
                </a:solidFill>
                <a:latin typeface="Calibri"/>
                <a:ea typeface="Calibri"/>
                <a:cs typeface="Calibri"/>
              </a:rPr>
              <a:t>Abbreviation Manual for Clinical Trials</a:t>
            </a:r>
          </a:p>
        </p:txBody>
      </p:sp>
      <p:sp>
        <p:nvSpPr>
          <p:cNvPr id="27" name="TextBox 26"/>
          <p:cNvSpPr txBox="1"/>
          <p:nvPr/>
        </p:nvSpPr>
        <p:spPr>
          <a:xfrm>
            <a:off x="546862" y="835279"/>
            <a:ext cx="11238484" cy="310261"/>
          </a:xfrm>
          <a:prstGeom prst="rect">
            <a:avLst/>
          </a:prstGeom>
          <a:noFill/>
        </p:spPr>
        <p:txBody>
          <a:bodyPr wrap="square">
            <a:noAutofit/>
          </a:bodyPr>
          <a:lstStyle/>
          <a:p>
            <a:pPr indent="0"/>
            <a:r>
              <a:rPr sz="1200">
                <a:solidFill>
                  <a:srgbClr val="6B8C7A"/>
                </a:solidFill>
                <a:latin typeface="Calibri"/>
                <a:ea typeface="Calibri"/>
                <a:cs typeface="Calibri"/>
              </a:rPr>
              <a:t>The following abbreviations are used in their abbreviated form throughout the trial protocol and regulatory submission documents; expanding them into full names in the engine is non-standard practice</a:t>
            </a:r>
          </a:p>
        </p:txBody>
      </p:sp>
      <p:sp>
        <p:nvSpPr>
          <p:cNvPr id="4" name="Shape 2"/>
          <p:cNvSpPr/>
          <p:nvPr>
            <p:custDataLst>
              <p:tags r:id="rId1"/>
            </p:custDataLst>
          </p:nvPr>
        </p:nvSpPr>
        <p:spPr>
          <a:xfrm>
            <a:off x="457200" y="1234440"/>
            <a:ext cx="11247120" cy="987552"/>
          </a:xfrm>
          <a:prstGeom prst="rect">
            <a:avLst/>
          </a:prstGeom>
          <a:solidFill>
            <a:srgbClr val="1A2E1A"/>
          </a:solidFill>
          <a:effectLst>
            <a:outerShdw blurRad="88900" dist="38100" dir="2700000" algn="bl" rotWithShape="0">
              <a:srgbClr val="000000">
                <a:alpha val="10000"/>
              </a:srgbClr>
            </a:outerShdw>
          </a:effectLst>
        </p:spPr>
      </p:sp>
      <p:sp>
        <p:nvSpPr>
          <p:cNvPr id="5" name="Shape 3"/>
          <p:cNvSpPr/>
          <p:nvPr>
            <p:custDataLst>
              <p:tags r:id="rId2"/>
            </p:custDataLst>
          </p:nvPr>
        </p:nvSpPr>
        <p:spPr>
          <a:xfrm>
            <a:off x="457200" y="1234440"/>
            <a:ext cx="1280160" cy="987552"/>
          </a:xfrm>
          <a:prstGeom prst="rect">
            <a:avLst/>
          </a:prstGeom>
          <a:solidFill>
            <a:srgbClr val="15803D"/>
          </a:solidFill>
        </p:spPr>
      </p:sp>
      <p:sp>
        <p:nvSpPr>
          <p:cNvPr id="28" name="TextBox 27"/>
          <p:cNvSpPr txBox="1"/>
          <p:nvPr/>
        </p:nvSpPr>
        <p:spPr>
          <a:xfrm>
            <a:off x="932815" y="1571879"/>
            <a:ext cx="391160" cy="346202"/>
          </a:xfrm>
          <a:prstGeom prst="rect">
            <a:avLst/>
          </a:prstGeom>
          <a:noFill/>
        </p:spPr>
        <p:txBody>
          <a:bodyPr wrap="square">
            <a:noAutofit/>
          </a:bodyPr>
          <a:lstStyle/>
          <a:p>
            <a:pPr algn="ctr" indent="0"/>
            <a:r>
              <a:rPr sz="2000" b="1">
                <a:solidFill>
                  <a:srgbClr val="FFFFFF"/>
                </a:solidFill>
                <a:latin typeface="Calibri"/>
                <a:ea typeface="Calibri"/>
                <a:cs typeface="Calibri"/>
              </a:rPr>
              <a:t>PK</a:t>
            </a:r>
          </a:p>
        </p:txBody>
      </p:sp>
      <p:sp>
        <p:nvSpPr>
          <p:cNvPr id="29" name="TextBox 28"/>
          <p:cNvSpPr txBox="1"/>
          <p:nvPr/>
        </p:nvSpPr>
        <p:spPr>
          <a:xfrm>
            <a:off x="1920240" y="1392301"/>
            <a:ext cx="9601200" cy="749427"/>
          </a:xfrm>
          <a:prstGeom prst="rect">
            <a:avLst/>
          </a:prstGeom>
          <a:noFill/>
        </p:spPr>
        <p:txBody>
          <a:bodyPr wrap="square">
            <a:noAutofit/>
          </a:bodyPr>
          <a:lstStyle/>
          <a:p>
            <a:pPr marL="0" indent="0"/>
            <a:r>
              <a:rPr sz="1200" b="1" i="0">
                <a:solidFill>
                  <a:srgbClr val="86EFAC"/>
                </a:solidFill>
                <a:latin typeface="Calibri"/>
                <a:ea typeface="Calibri"/>
                <a:cs typeface="Calibri"/>
              </a:rPr>
              <a:t>Pharmacokinetics</a:t>
            </a:r>
          </a:p>
          <a:p>
            <a:pPr marL="0" indent="0"/>
            <a:r>
              <a:rPr sz="1200" b="0" i="0">
                <a:solidFill>
                  <a:srgbClr val="A7C4B3"/>
                </a:solidFill>
                <a:latin typeface="Calibri"/>
                <a:ea typeface="Calibri"/>
                <a:cs typeface="Calibri"/>
              </a:rPr>
              <a:t>Study of drug absorption (Absorption), distribution (Distribution), metabolism (Metabolism), and excretion (Excretion) in the body, i.e., the ADME process. PK parameters include half-life, bioavailability, AUC, Cmax, etc. PK studies are the core content of Phase I clinical trials.</a:t>
            </a:r>
          </a:p>
        </p:txBody>
      </p:sp>
      <p:sp>
        <p:nvSpPr>
          <p:cNvPr id="9" name="Shape 7"/>
          <p:cNvSpPr/>
          <p:nvPr>
            <p:custDataLst>
              <p:tags r:id="rId6"/>
            </p:custDataLst>
          </p:nvPr>
        </p:nvSpPr>
        <p:spPr>
          <a:xfrm>
            <a:off x="457200" y="2331720"/>
            <a:ext cx="11247120" cy="987552"/>
          </a:xfrm>
          <a:prstGeom prst="rect">
            <a:avLst/>
          </a:prstGeom>
          <a:solidFill>
            <a:srgbClr val="152414"/>
          </a:solidFill>
          <a:effectLst>
            <a:outerShdw blurRad="88900" dist="38100" dir="2700000" algn="bl" rotWithShape="0">
              <a:srgbClr val="000000">
                <a:alpha val="10000"/>
              </a:srgbClr>
            </a:outerShdw>
          </a:effectLst>
        </p:spPr>
      </p:sp>
      <p:sp>
        <p:nvSpPr>
          <p:cNvPr id="10" name="Shape 8"/>
          <p:cNvSpPr/>
          <p:nvPr>
            <p:custDataLst>
              <p:tags r:id="rId7"/>
            </p:custDataLst>
          </p:nvPr>
        </p:nvSpPr>
        <p:spPr>
          <a:xfrm>
            <a:off x="457200" y="2331720"/>
            <a:ext cx="1280160" cy="987552"/>
          </a:xfrm>
          <a:prstGeom prst="rect">
            <a:avLst/>
          </a:prstGeom>
          <a:solidFill>
            <a:srgbClr val="15803D"/>
          </a:solidFill>
        </p:spPr>
      </p:sp>
      <p:sp>
        <p:nvSpPr>
          <p:cNvPr id="30" name="TextBox 29"/>
          <p:cNvSpPr txBox="1"/>
          <p:nvPr/>
        </p:nvSpPr>
        <p:spPr>
          <a:xfrm>
            <a:off x="923036" y="2669159"/>
            <a:ext cx="396240" cy="346202"/>
          </a:xfrm>
          <a:prstGeom prst="rect">
            <a:avLst/>
          </a:prstGeom>
          <a:noFill/>
        </p:spPr>
        <p:txBody>
          <a:bodyPr wrap="square">
            <a:noAutofit/>
          </a:bodyPr>
          <a:lstStyle/>
          <a:p>
            <a:pPr algn="ctr" indent="0"/>
            <a:r>
              <a:rPr sz="2000" b="1">
                <a:solidFill>
                  <a:srgbClr val="FFFFFF"/>
                </a:solidFill>
                <a:latin typeface="Calibri"/>
                <a:ea typeface="Calibri"/>
                <a:cs typeface="Calibri"/>
              </a:rPr>
              <a:t>PD</a:t>
            </a:r>
          </a:p>
        </p:txBody>
      </p:sp>
      <p:sp>
        <p:nvSpPr>
          <p:cNvPr id="31" name="TextBox 30"/>
          <p:cNvSpPr txBox="1"/>
          <p:nvPr/>
        </p:nvSpPr>
        <p:spPr>
          <a:xfrm>
            <a:off x="1920240" y="2489581"/>
            <a:ext cx="9601200" cy="749427"/>
          </a:xfrm>
          <a:prstGeom prst="rect">
            <a:avLst/>
          </a:prstGeom>
          <a:noFill/>
        </p:spPr>
        <p:txBody>
          <a:bodyPr wrap="square">
            <a:noAutofit/>
          </a:bodyPr>
          <a:lstStyle/>
          <a:p>
            <a:pPr marL="0" indent="0"/>
            <a:r>
              <a:rPr sz="1200" b="1" i="0">
                <a:solidFill>
                  <a:srgbClr val="86EFAC"/>
                </a:solidFill>
                <a:latin typeface="Calibri"/>
                <a:ea typeface="Calibri"/>
                <a:cs typeface="Calibri"/>
              </a:rPr>
              <a:t>Pharmacodynamics</a:t>
            </a:r>
          </a:p>
          <a:p>
            <a:pPr marL="0" indent="0"/>
            <a:r>
              <a:rPr sz="1200" b="0" i="0">
                <a:solidFill>
                  <a:srgbClr val="A7C4B3"/>
                </a:solidFill>
                <a:latin typeface="Calibri"/>
                <a:ea typeface="Calibri"/>
                <a:cs typeface="Calibri"/>
              </a:rPr>
              <a:t>Study of the biological effects and mechanisms of drugs on the body. The PK/PD model (PK/PD Modeling) combines the two, establishing a drug concentration-effect relationship to guide dose regimen design. PD endpoints (PD Endpoint) are often included in trial protocols as secondary endpoints (Secondary Endpoint).</a:t>
            </a:r>
          </a:p>
        </p:txBody>
      </p:sp>
      <p:sp>
        <p:nvSpPr>
          <p:cNvPr id="14" name="Shape 12"/>
          <p:cNvSpPr/>
          <p:nvPr>
            <p:custDataLst>
              <p:tags r:id="rId11"/>
            </p:custDataLst>
          </p:nvPr>
        </p:nvSpPr>
        <p:spPr>
          <a:xfrm>
            <a:off x="457200" y="3429000"/>
            <a:ext cx="11247120" cy="987552"/>
          </a:xfrm>
          <a:prstGeom prst="rect">
            <a:avLst/>
          </a:prstGeom>
          <a:solidFill>
            <a:srgbClr val="1A2E1A"/>
          </a:solidFill>
          <a:effectLst>
            <a:outerShdw blurRad="88900" dist="38100" dir="2700000" algn="bl" rotWithShape="0">
              <a:srgbClr val="000000">
                <a:alpha val="10000"/>
              </a:srgbClr>
            </a:outerShdw>
          </a:effectLst>
        </p:spPr>
      </p:sp>
      <p:sp>
        <p:nvSpPr>
          <p:cNvPr id="15" name="Shape 13"/>
          <p:cNvSpPr/>
          <p:nvPr>
            <p:custDataLst>
              <p:tags r:id="rId12"/>
            </p:custDataLst>
          </p:nvPr>
        </p:nvSpPr>
        <p:spPr>
          <a:xfrm>
            <a:off x="457200" y="3429000"/>
            <a:ext cx="1280160" cy="987552"/>
          </a:xfrm>
          <a:prstGeom prst="rect">
            <a:avLst/>
          </a:prstGeom>
          <a:solidFill>
            <a:srgbClr val="15803D"/>
          </a:solidFill>
        </p:spPr>
      </p:sp>
      <p:sp>
        <p:nvSpPr>
          <p:cNvPr id="32" name="TextBox 31"/>
          <p:cNvSpPr txBox="1"/>
          <p:nvPr/>
        </p:nvSpPr>
        <p:spPr>
          <a:xfrm>
            <a:off x="867918" y="3766439"/>
            <a:ext cx="553720" cy="346202"/>
          </a:xfrm>
          <a:prstGeom prst="rect">
            <a:avLst/>
          </a:prstGeom>
          <a:noFill/>
        </p:spPr>
        <p:txBody>
          <a:bodyPr wrap="square">
            <a:noAutofit/>
          </a:bodyPr>
          <a:lstStyle/>
          <a:p>
            <a:pPr algn="ctr" indent="0"/>
            <a:r>
              <a:rPr sz="2000" b="1">
                <a:solidFill>
                  <a:srgbClr val="FFFFFF"/>
                </a:solidFill>
                <a:latin typeface="Calibri"/>
                <a:ea typeface="Calibri"/>
                <a:cs typeface="Calibri"/>
              </a:rPr>
              <a:t>SAE</a:t>
            </a:r>
          </a:p>
        </p:txBody>
      </p:sp>
      <p:sp>
        <p:nvSpPr>
          <p:cNvPr id="33" name="TextBox 32"/>
          <p:cNvSpPr txBox="1"/>
          <p:nvPr/>
        </p:nvSpPr>
        <p:spPr>
          <a:xfrm>
            <a:off x="1920240" y="3586861"/>
            <a:ext cx="9601200" cy="749427"/>
          </a:xfrm>
          <a:prstGeom prst="rect">
            <a:avLst/>
          </a:prstGeom>
          <a:noFill/>
        </p:spPr>
        <p:txBody>
          <a:bodyPr wrap="square">
            <a:noAutofit/>
          </a:bodyPr>
          <a:lstStyle/>
          <a:p>
            <a:pPr marL="0" indent="0"/>
            <a:r>
              <a:rPr sz="950" b="1" i="0">
                <a:solidFill>
                  <a:srgbClr val="86EFAC"/>
                </a:solidFill>
                <a:latin typeface="Calibri"/>
                <a:ea typeface="Calibri"/>
                <a:cs typeface="Calibri"/>
              </a:rPr>
              <a:t>Serious Adverse Event / Serious Adverse Event</a:t>
            </a:r>
          </a:p>
          <a:p>
            <a:pPr marL="0" indent="0"/>
            <a:r>
              <a:rPr sz="950" b="0" i="0">
                <a:solidFill>
                  <a:srgbClr val="A7C4B3"/>
                </a:solidFill>
                <a:latin typeface="Calibri"/>
                <a:ea typeface="Calibri"/>
                <a:cs typeface="Calibri"/>
              </a:rPr>
              <a:t>An SAE is an adverse event that results in any of the following: death, life-threatening condition, requires hospitalization or prolongation of hospitalization, causes persistent or significant disability/incapacity, or congenital anomaly. SAEs must be urgently reported to the Sponsor within 24 hours, and SUSAR (suspected unexpected serious adverse reaction) reports must be submitted to regulatory agencies such as NMPA (China) and FDA (US).</a:t>
            </a:r>
          </a:p>
        </p:txBody>
      </p:sp>
      <p:sp>
        <p:nvSpPr>
          <p:cNvPr id="19" name="Shape 17"/>
          <p:cNvSpPr/>
          <p:nvPr>
            <p:custDataLst>
              <p:tags r:id="rId16"/>
            </p:custDataLst>
          </p:nvPr>
        </p:nvSpPr>
        <p:spPr>
          <a:xfrm>
            <a:off x="457200" y="4526280"/>
            <a:ext cx="11247120" cy="987552"/>
          </a:xfrm>
          <a:prstGeom prst="rect">
            <a:avLst/>
          </a:prstGeom>
          <a:solidFill>
            <a:srgbClr val="152414"/>
          </a:solidFill>
          <a:effectLst>
            <a:outerShdw blurRad="88900" dist="38100" dir="2700000" algn="bl" rotWithShape="0">
              <a:srgbClr val="000000">
                <a:alpha val="10000"/>
              </a:srgbClr>
            </a:outerShdw>
          </a:effectLst>
        </p:spPr>
      </p:sp>
      <p:sp>
        <p:nvSpPr>
          <p:cNvPr id="20" name="Shape 18"/>
          <p:cNvSpPr/>
          <p:nvPr>
            <p:custDataLst>
              <p:tags r:id="rId17"/>
            </p:custDataLst>
          </p:nvPr>
        </p:nvSpPr>
        <p:spPr>
          <a:xfrm>
            <a:off x="457200" y="4526280"/>
            <a:ext cx="1280160" cy="987552"/>
          </a:xfrm>
          <a:prstGeom prst="rect">
            <a:avLst/>
          </a:prstGeom>
          <a:solidFill>
            <a:srgbClr val="15803D"/>
          </a:solidFill>
        </p:spPr>
      </p:sp>
      <p:sp>
        <p:nvSpPr>
          <p:cNvPr id="34" name="TextBox 33"/>
          <p:cNvSpPr txBox="1"/>
          <p:nvPr/>
        </p:nvSpPr>
        <p:spPr>
          <a:xfrm>
            <a:off x="896747" y="4863719"/>
            <a:ext cx="454660" cy="346202"/>
          </a:xfrm>
          <a:prstGeom prst="rect">
            <a:avLst/>
          </a:prstGeom>
          <a:noFill/>
        </p:spPr>
        <p:txBody>
          <a:bodyPr wrap="square">
            <a:noAutofit/>
          </a:bodyPr>
          <a:lstStyle/>
          <a:p>
            <a:pPr algn="ctr" indent="0"/>
            <a:r>
              <a:rPr sz="2000" b="1">
                <a:solidFill>
                  <a:srgbClr val="FFFFFF"/>
                </a:solidFill>
                <a:latin typeface="Calibri"/>
                <a:ea typeface="Calibri"/>
                <a:cs typeface="Calibri"/>
              </a:rPr>
              <a:t>ICF</a:t>
            </a:r>
          </a:p>
        </p:txBody>
      </p:sp>
      <p:sp>
        <p:nvSpPr>
          <p:cNvPr id="35" name="TextBox 34"/>
          <p:cNvSpPr txBox="1"/>
          <p:nvPr/>
        </p:nvSpPr>
        <p:spPr>
          <a:xfrm>
            <a:off x="1920240" y="4684141"/>
            <a:ext cx="9601200" cy="749427"/>
          </a:xfrm>
          <a:prstGeom prst="rect">
            <a:avLst/>
          </a:prstGeom>
          <a:noFill/>
        </p:spPr>
        <p:txBody>
          <a:bodyPr wrap="square">
            <a:noAutofit/>
          </a:bodyPr>
          <a:lstStyle/>
          <a:p>
            <a:pPr marL="0" indent="0"/>
            <a:r>
              <a:rPr sz="950" b="1" i="0">
                <a:solidFill>
                  <a:srgbClr val="86EFAC"/>
                </a:solidFill>
                <a:latin typeface="Calibri"/>
                <a:ea typeface="Calibri"/>
                <a:cs typeface="Calibri"/>
              </a:rPr>
              <a:t>Informed Consent Form / Informed Consent Form</a:t>
            </a:r>
          </a:p>
          <a:p>
            <a:pPr marL="0" indent="0"/>
            <a:r>
              <a:rPr sz="950" b="0" i="0">
                <a:solidFill>
                  <a:srgbClr val="A7C4B3"/>
                </a:solidFill>
                <a:latin typeface="Calibri"/>
                <a:ea typeface="Calibri"/>
                <a:cs typeface="Calibri"/>
              </a:rPr>
              <a:t>The ICF (Informed Consent Form) is a legal document by which a subject (Subject) voluntarily participates in a clinical trial and must be obtained prior to enrollment (Enrollment). The ICF content must include the trial purpose, procedures, risks and benefits, and confidentiality measures. The version number of the ICF must be consistent with that of the trial protocol (Study Protocol), and any revision must be re-approved by the ethics committee (IRB/IEC).</a:t>
            </a:r>
          </a:p>
        </p:txBody>
      </p:sp>
      <p:sp>
        <p:nvSpPr>
          <p:cNvPr id="24" name="Shape 22"/>
          <p:cNvSpPr/>
          <p:nvPr>
            <p:custDataLst>
              <p:tags r:id="rId21"/>
            </p:custDataLst>
          </p:nvPr>
        </p:nvSpPr>
        <p:spPr>
          <a:xfrm>
            <a:off x="457200" y="5623560"/>
            <a:ext cx="11247120" cy="987552"/>
          </a:xfrm>
          <a:prstGeom prst="rect">
            <a:avLst/>
          </a:prstGeom>
          <a:solidFill>
            <a:srgbClr val="1A2E1A"/>
          </a:solidFill>
          <a:effectLst>
            <a:outerShdw blurRad="88900" dist="38100" dir="2700000" algn="bl" rotWithShape="0">
              <a:srgbClr val="000000">
                <a:alpha val="10000"/>
              </a:srgbClr>
            </a:outerShdw>
          </a:effectLst>
        </p:spPr>
      </p:sp>
      <p:sp>
        <p:nvSpPr>
          <p:cNvPr id="25" name="Shape 23"/>
          <p:cNvSpPr/>
          <p:nvPr>
            <p:custDataLst>
              <p:tags r:id="rId22"/>
            </p:custDataLst>
          </p:nvPr>
        </p:nvSpPr>
        <p:spPr>
          <a:xfrm>
            <a:off x="457200" y="5623560"/>
            <a:ext cx="1280160" cy="987552"/>
          </a:xfrm>
          <a:prstGeom prst="rect">
            <a:avLst/>
          </a:prstGeom>
          <a:solidFill>
            <a:srgbClr val="15803D"/>
          </a:solidFill>
        </p:spPr>
      </p:sp>
      <p:sp>
        <p:nvSpPr>
          <p:cNvPr id="36" name="TextBox 35"/>
          <p:cNvSpPr txBox="1"/>
          <p:nvPr/>
        </p:nvSpPr>
        <p:spPr>
          <a:xfrm>
            <a:off x="924433" y="5960999"/>
            <a:ext cx="363220" cy="346202"/>
          </a:xfrm>
          <a:prstGeom prst="rect">
            <a:avLst/>
          </a:prstGeom>
          <a:noFill/>
        </p:spPr>
        <p:txBody>
          <a:bodyPr wrap="square">
            <a:noAutofit/>
          </a:bodyPr>
          <a:lstStyle/>
          <a:p>
            <a:pPr algn="ctr" indent="0"/>
            <a:r>
              <a:rPr sz="2000" b="1">
                <a:solidFill>
                  <a:srgbClr val="FFFFFF"/>
                </a:solidFill>
                <a:latin typeface="Calibri"/>
                <a:ea typeface="Calibri"/>
                <a:cs typeface="Calibri"/>
              </a:rPr>
              <a:t>IIT</a:t>
            </a:r>
          </a:p>
        </p:txBody>
      </p:sp>
      <p:sp>
        <p:nvSpPr>
          <p:cNvPr id="37" name="TextBox 36"/>
          <p:cNvSpPr txBox="1"/>
          <p:nvPr/>
        </p:nvSpPr>
        <p:spPr>
          <a:xfrm>
            <a:off x="1920240" y="5781421"/>
            <a:ext cx="9601200" cy="749427"/>
          </a:xfrm>
          <a:prstGeom prst="rect">
            <a:avLst/>
          </a:prstGeom>
          <a:noFill/>
        </p:spPr>
        <p:txBody>
          <a:bodyPr wrap="square">
            <a:noAutofit/>
          </a:bodyPr>
          <a:lstStyle/>
          <a:p>
            <a:pPr marL="0" indent="0"/>
            <a:r>
              <a:rPr sz="1100" b="1" i="0">
                <a:solidFill>
                  <a:srgbClr val="86EFAC"/>
                </a:solidFill>
                <a:latin typeface="Calibri"/>
                <a:ea typeface="Calibri"/>
                <a:cs typeface="Calibri"/>
              </a:rPr>
              <a:t>Investigator-Initiated Trial / Investigator-Initiated Trial</a:t>
            </a:r>
          </a:p>
          <a:p>
            <a:pPr marL="0" indent="0"/>
            <a:r>
              <a:rPr sz="1100" b="0" i="0">
                <a:solidFill>
                  <a:srgbClr val="A7C4B3"/>
                </a:solidFill>
                <a:latin typeface="Calibri"/>
                <a:ea typeface="Calibri"/>
                <a:cs typeface="Calibri"/>
              </a:rPr>
              <a:t>An IIT (Investigator-Initiated Trial) is initiated and led by clinical institution investigators, as opposed to sponsor-initiated trials (Sponsor-Initiated Trial/SIT). The trial protocol (Study Protocol) of an IIT must be approved by the institutional ethics committee (IRB) and registered with NMPA. IIT data can support supplementary applications for NDA/sNDA.</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423.36,&quot;left&quot;:36,&quot;top&quot;:97.2,&quot;width&quot;:885.6}"/>
</p:tagLst>
</file>

<file path=ppt/tags/tag64.xml><?xml version="1.0" encoding="utf-8"?>
<p:tagLst xmlns:p="http://schemas.openxmlformats.org/presentationml/2006/main">
  <p:tag name="KSO_WM_DIAGRAM_VIRTUALLY_FRAME" val="{&quot;height&quot;:423.36,&quot;left&quot;:36,&quot;top&quot;:97.2,&quot;width&quot;:885.6}"/>
</p:tagLst>
</file>

<file path=ppt/tags/tag65.xml><?xml version="1.0" encoding="utf-8"?>
<p:tagLst xmlns:p="http://schemas.openxmlformats.org/presentationml/2006/main">
  <p:tag name="KSO_WM_DIAGRAM_VIRTUALLY_FRAME" val="{&quot;height&quot;:423.36,&quot;left&quot;:36,&quot;top&quot;:97.2,&quot;width&quot;:885.6}"/>
</p:tagLst>
</file>

<file path=ppt/tags/tag66.xml><?xml version="1.0" encoding="utf-8"?>
<p:tagLst xmlns:p="http://schemas.openxmlformats.org/presentationml/2006/main">
  <p:tag name="KSO_WM_DIAGRAM_VIRTUALLY_FRAME" val="{&quot;height&quot;:423.36,&quot;left&quot;:36,&quot;top&quot;:97.2,&quot;width&quot;:885.6}"/>
</p:tagLst>
</file>

<file path=ppt/tags/tag67.xml><?xml version="1.0" encoding="utf-8"?>
<p:tagLst xmlns:p="http://schemas.openxmlformats.org/presentationml/2006/main">
  <p:tag name="KSO_WM_DIAGRAM_VIRTUALLY_FRAME" val="{&quot;height&quot;:423.36,&quot;left&quot;:36,&quot;top&quot;:97.2,&quot;width&quot;:885.6}"/>
</p:tagLst>
</file>

<file path=ppt/tags/tag68.xml><?xml version="1.0" encoding="utf-8"?>
<p:tagLst xmlns:p="http://schemas.openxmlformats.org/presentationml/2006/main">
  <p:tag name="KSO_WM_DIAGRAM_VIRTUALLY_FRAME" val="{&quot;height&quot;:423.36,&quot;left&quot;:36,&quot;top&quot;:97.2,&quot;width&quot;:885.6}"/>
</p:tagLst>
</file>

<file path=ppt/tags/tag69.xml><?xml version="1.0" encoding="utf-8"?>
<p:tagLst xmlns:p="http://schemas.openxmlformats.org/presentationml/2006/main">
  <p:tag name="KSO_WM_DIAGRAM_VIRTUALLY_FRAME" val="{&quot;height&quot;:423.36,&quot;left&quot;:36,&quot;top&quot;:97.2,&quot;width&quot;:885.6}"/>
</p:tagLst>
</file>

<file path=ppt/tags/tag70.xml><?xml version="1.0" encoding="utf-8"?>
<p:tagLst xmlns:p="http://schemas.openxmlformats.org/presentationml/2006/main">
  <p:tag name="KSO_WM_DIAGRAM_VIRTUALLY_FRAME" val="{&quot;height&quot;:423.36,&quot;left&quot;:36,&quot;top&quot;:97.2,&quot;width&quot;:885.6}"/>
</p:tagLst>
</file>

<file path=ppt/tags/tag71.xml><?xml version="1.0" encoding="utf-8"?>
<p:tagLst xmlns:p="http://schemas.openxmlformats.org/presentationml/2006/main">
  <p:tag name="KSO_WM_DIAGRAM_VIRTUALLY_FRAME" val="{&quot;height&quot;:423.36,&quot;left&quot;:36,&quot;top&quot;:97.2,&quot;width&quot;:885.6}"/>
</p:tagLst>
</file>

<file path=ppt/tags/tag72.xml><?xml version="1.0" encoding="utf-8"?>
<p:tagLst xmlns:p="http://schemas.openxmlformats.org/presentationml/2006/main">
  <p:tag name="KSO_WM_DIAGRAM_VIRTUALLY_FRAME" val="{&quot;height&quot;:423.36,&quot;left&quot;:36,&quot;top&quot;:97.2,&quot;width&quot;:885.6}"/>
</p:tagLst>
</file>

<file path=ppt/tags/tag73.xml><?xml version="1.0" encoding="utf-8"?>
<p:tagLst xmlns:p="http://schemas.openxmlformats.org/presentationml/2006/main">
  <p:tag name="KSO_WM_DIAGRAM_VIRTUALLY_FRAME" val="{&quot;height&quot;:423.36,&quot;left&quot;:36,&quot;top&quot;:97.2,&quot;width&quot;:885.6}"/>
</p:tagLst>
</file>

<file path=ppt/tags/tag74.xml><?xml version="1.0" encoding="utf-8"?>
<p:tagLst xmlns:p="http://schemas.openxmlformats.org/presentationml/2006/main">
  <p:tag name="KSO_WM_DIAGRAM_VIRTUALLY_FRAME" val="{&quot;height&quot;:423.36,&quot;left&quot;:36,&quot;top&quot;:97.2,&quot;width&quot;:885.6}"/>
</p:tagLst>
</file>

<file path=ppt/tags/tag75.xml><?xml version="1.0" encoding="utf-8"?>
<p:tagLst xmlns:p="http://schemas.openxmlformats.org/presentationml/2006/main">
  <p:tag name="KSO_WM_DIAGRAM_VIRTUALLY_FRAME" val="{&quot;height&quot;:423.36,&quot;left&quot;:36,&quot;top&quot;:97.2,&quot;width&quot;:885.6}"/>
</p:tagLst>
</file>

<file path=ppt/tags/tag76.xml><?xml version="1.0" encoding="utf-8"?>
<p:tagLst xmlns:p="http://schemas.openxmlformats.org/presentationml/2006/main">
  <p:tag name="KSO_WM_DIAGRAM_VIRTUALLY_FRAME" val="{&quot;height&quot;:423.36,&quot;left&quot;:36,&quot;top&quot;:97.2,&quot;width&quot;:885.6}"/>
</p:tagLst>
</file>

<file path=ppt/tags/tag77.xml><?xml version="1.0" encoding="utf-8"?>
<p:tagLst xmlns:p="http://schemas.openxmlformats.org/presentationml/2006/main">
  <p:tag name="KSO_WM_DIAGRAM_VIRTUALLY_FRAME" val="{&quot;height&quot;:423.36,&quot;left&quot;:36,&quot;top&quot;:97.2,&quot;width&quot;:885.6}"/>
</p:tagLst>
</file>

<file path=ppt/tags/tag78.xml><?xml version="1.0" encoding="utf-8"?>
<p:tagLst xmlns:p="http://schemas.openxmlformats.org/presentationml/2006/main">
  <p:tag name="KSO_WM_DIAGRAM_VIRTUALLY_FRAME" val="{&quot;height&quot;:423.36,&quot;left&quot;:36,&quot;top&quot;:97.2,&quot;width&quot;:885.6}"/>
</p:tagLst>
</file>

<file path=ppt/tags/tag79.xml><?xml version="1.0" encoding="utf-8"?>
<p:tagLst xmlns:p="http://schemas.openxmlformats.org/presentationml/2006/main">
  <p:tag name="KSO_WM_DIAGRAM_VIRTUALLY_FRAME" val="{&quot;height&quot;:423.36,&quot;left&quot;:36,&quot;top&quot;:97.2,&quot;width&quot;:885.6}"/>
</p:tagLst>
</file>

<file path=ppt/tags/tag80.xml><?xml version="1.0" encoding="utf-8"?>
<p:tagLst xmlns:p="http://schemas.openxmlformats.org/presentationml/2006/main">
  <p:tag name="KSO_WM_DIAGRAM_VIRTUALLY_FRAME" val="{&quot;height&quot;:423.36,&quot;left&quot;:36,&quot;top&quot;:97.2,&quot;width&quot;:885.6}"/>
</p:tagLst>
</file>

<file path=ppt/tags/tag81.xml><?xml version="1.0" encoding="utf-8"?>
<p:tagLst xmlns:p="http://schemas.openxmlformats.org/presentationml/2006/main">
  <p:tag name="KSO_WM_DIAGRAM_VIRTUALLY_FRAME" val="{&quot;height&quot;:423.36,&quot;left&quot;:36,&quot;top&quot;:97.2,&quot;width&quot;:885.6}"/>
</p:tagLst>
</file>

<file path=ppt/tags/tag82.xml><?xml version="1.0" encoding="utf-8"?>
<p:tagLst xmlns:p="http://schemas.openxmlformats.org/presentationml/2006/main">
  <p:tag name="KSO_WM_DIAGRAM_VIRTUALLY_FRAME" val="{&quot;height&quot;:423.36,&quot;left&quot;:36,&quot;top&quot;:97.2,&quot;width&quot;:885.6}"/>
</p:tagLst>
</file>

<file path=ppt/tags/tag83.xml><?xml version="1.0" encoding="utf-8"?>
<p:tagLst xmlns:p="http://schemas.openxmlformats.org/presentationml/2006/main">
  <p:tag name="KSO_WM_DIAGRAM_VIRTUALLY_FRAME" val="{&quot;height&quot;:423.36,&quot;left&quot;:36,&quot;top&quot;:97.2,&quot;width&quot;:885.6}"/>
</p:tagLst>
</file>

<file path=ppt/tags/tag84.xml><?xml version="1.0" encoding="utf-8"?>
<p:tagLst xmlns:p="http://schemas.openxmlformats.org/presentationml/2006/main">
  <p:tag name="KSO_WM_DIAGRAM_VIRTUALLY_FRAME" val="{&quot;height&quot;:423.36,&quot;left&quot;:36,&quot;top&quot;:97.2,&quot;width&quot;:885.6}"/>
</p:tagLst>
</file>

<file path=ppt/tags/tag85.xml><?xml version="1.0" encoding="utf-8"?>
<p:tagLst xmlns:p="http://schemas.openxmlformats.org/presentationml/2006/main">
  <p:tag name="KSO_WM_DIAGRAM_VIRTUALLY_FRAME" val="{&quot;height&quot;:423.36,&quot;left&quot;:36,&quot;top&quot;:97.2,&quot;width&quot;:885.6}"/>
</p:tagLst>
</file>

<file path=ppt/tags/tag86.xml><?xml version="1.0" encoding="utf-8"?>
<p:tagLst xmlns:p="http://schemas.openxmlformats.org/presentationml/2006/main">
  <p:tag name="KSO_WM_DIAGRAM_VIRTUALLY_FRAME" val="{&quot;height&quot;:423.36,&quot;left&quot;:36,&quot;top&quot;:97.2,&quot;width&quot;:885.6}"/>
</p:tagLst>
</file>

<file path=ppt/tags/tag87.xml><?xml version="1.0" encoding="utf-8"?>
<p:tagLst xmlns:p="http://schemas.openxmlformats.org/presentationml/2006/main">
  <p:tag name="KSO_WM_DIAGRAM_VIRTUALLY_FRAME" val="{&quot;height&quot;:423.36,&quot;left&quot;:36,&quot;top&quot;:97.2,&quot;width&quot;:885.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881</Words>
  <Application>WPS 演示</Application>
  <PresentationFormat>宽屏</PresentationFormat>
  <Paragraphs>36</Paragraphs>
  <Slides>1</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Wingdings</vt:lpstr>
      <vt:lpstr>微软雅黑</vt:lpstr>
      <vt:lpstr>Arial Unicode MS</vt:lpstr>
      <vt:lpstr>Calibri</vt:lpstr>
      <vt:lpstr>Calibri</vt:lpstr>
      <vt:lpstr>Calibri</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p:lastModifiedBy>
  <cp:revision>155</cp:revision>
  <dcterms:created xsi:type="dcterms:W3CDTF">2019-06-19T02:08:00Z</dcterms:created>
  <dcterms:modified xsi:type="dcterms:W3CDTF">2026-08-13T05:57:21Z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A93B32DCD026460CAAAC39F362833383_11</vt:lpwstr>
  </property>
</Properties>
</file>