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7" Type="http://schemas.openxmlformats.org/officeDocument/2006/relationships/notesSlide" Target="../notesSlides/notesSlide1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87.xml"/><Relationship Id="rId24" Type="http://schemas.openxmlformats.org/officeDocument/2006/relationships/tags" Target="../tags/tag86.xml"/><Relationship Id="rId23" Type="http://schemas.openxmlformats.org/officeDocument/2006/relationships/tags" Target="../tags/tag85.xml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临床试验专用缩写手册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7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以下缩写在试验方案（Study Protocol）及申报文件中全程使用缩写形式，引擎展开全称是不规范的处理</a:t>
            </a:r>
            <a:endParaRPr lang="en-US" sz="1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57200" y="1234440"/>
            <a:ext cx="11247120" cy="987552"/>
          </a:xfrm>
          <a:prstGeom prst="rect">
            <a:avLst/>
          </a:prstGeom>
          <a:solidFill>
            <a:srgbClr val="1A2E1A"/>
          </a:solidFill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57200" y="1234440"/>
            <a:ext cx="1280160" cy="987552"/>
          </a:xfrm>
          <a:prstGeom prst="rect">
            <a:avLst/>
          </a:prstGeom>
          <a:solidFill>
            <a:srgbClr val="15803D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57200" y="1490472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PK</a:t>
            </a:r>
            <a:endParaRPr lang="en-US" sz="20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920240" y="1325880"/>
            <a:ext cx="9601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药代动力学</a:t>
            </a:r>
            <a:endParaRPr lang="en-US" sz="13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920240" y="1746504"/>
            <a:ext cx="9601200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7C4B3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研究药物在体内的吸收（Absorption）、分布（Distribution）、代谢（Metabolism）、排泄（Excretion），即ADME过程。PK参数包括半衰期（Half-life）、生物利用度（Bioavailability）、AUC、Cmax等。PK研究是I期临床试验的核心内容。</a:t>
            </a:r>
            <a:endParaRPr lang="en-US" sz="115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57200" y="2331720"/>
            <a:ext cx="11247120" cy="987552"/>
          </a:xfrm>
          <a:prstGeom prst="rect">
            <a:avLst/>
          </a:prstGeom>
          <a:solidFill>
            <a:srgbClr val="152414"/>
          </a:solidFill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57200" y="2331720"/>
            <a:ext cx="1280160" cy="987552"/>
          </a:xfrm>
          <a:prstGeom prst="rect">
            <a:avLst/>
          </a:prstGeom>
          <a:solidFill>
            <a:srgbClr val="15803D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57200" y="2587752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PD</a:t>
            </a:r>
            <a:endParaRPr lang="en-US" sz="20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1920240" y="2423160"/>
            <a:ext cx="9601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药效动力学</a:t>
            </a:r>
            <a:endParaRPr lang="en-US" sz="13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1920240" y="2843784"/>
            <a:ext cx="9601200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7C4B3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研究药物对机体产生的生物学效应及其机制。PK/PD模型（PK/PD Modeling）结合两者，建立药物浓度-效应关系，指导剂量方案设计。PD终点（PD Endpoint）常作为次要终点（Secondary Endpoint）纳入试验方案。</a:t>
            </a:r>
            <a:endParaRPr lang="en-US" sz="115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457200" y="3429000"/>
            <a:ext cx="11247120" cy="987552"/>
          </a:xfrm>
          <a:prstGeom prst="rect">
            <a:avLst/>
          </a:prstGeom>
          <a:solidFill>
            <a:srgbClr val="1A2E1A"/>
          </a:solidFill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457200" y="3429000"/>
            <a:ext cx="1280160" cy="987552"/>
          </a:xfrm>
          <a:prstGeom prst="rect">
            <a:avLst/>
          </a:prstGeom>
          <a:solidFill>
            <a:srgbClr val="15803D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457200" y="3685032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SAE</a:t>
            </a:r>
            <a:endParaRPr lang="en-US" sz="20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1920240" y="3520440"/>
            <a:ext cx="9601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严重不良事件 / Serious Adverse Event</a:t>
            </a:r>
            <a:endParaRPr lang="en-US" sz="13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920240" y="3941064"/>
            <a:ext cx="9601200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7C4B3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AE是导致以下任一结果的不良事件：死亡、危及生命、需住院或延长住院时间、导致持续性或重要的残疾/失能、先天异常。SAE须在24小时内向申办方（Sponsor）紧急报告，并向NMPA（中国）、FDA（美国）等监管机构提交SUSAR（可疑未预期SAE）报告。</a:t>
            </a:r>
            <a:endParaRPr lang="en-US" sz="115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457200" y="4526280"/>
            <a:ext cx="11247120" cy="987552"/>
          </a:xfrm>
          <a:prstGeom prst="rect">
            <a:avLst/>
          </a:prstGeom>
          <a:solidFill>
            <a:srgbClr val="152414"/>
          </a:solidFill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457200" y="4526280"/>
            <a:ext cx="1280160" cy="987552"/>
          </a:xfrm>
          <a:prstGeom prst="rect">
            <a:avLst/>
          </a:prstGeom>
          <a:solidFill>
            <a:srgbClr val="15803D"/>
          </a:solidFill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457200" y="4782312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ICF</a:t>
            </a:r>
            <a:endParaRPr lang="en-US" sz="20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1920240" y="4617720"/>
            <a:ext cx="9601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知情同意书 / Informed Consent Form</a:t>
            </a:r>
            <a:endParaRPr lang="en-US" sz="13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1920240" y="5038344"/>
            <a:ext cx="9601200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7C4B3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ICF（知情同意书）是受试者（Subject）自愿参与临床试验的法律文件，须在入组（Enrollment）前获取。ICF内容须包含试验目的、程序、风险与受益、保密措施。ICF的版本号须与试验方案（Study Protocol）版本一致，任何修订须经伦理委员会（IRB/IEC）重新审批。</a:t>
            </a:r>
            <a:endParaRPr lang="en-US" sz="115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>
            <a:off x="457200" y="5623560"/>
            <a:ext cx="11247120" cy="987552"/>
          </a:xfrm>
          <a:prstGeom prst="rect">
            <a:avLst/>
          </a:prstGeom>
          <a:solidFill>
            <a:srgbClr val="1A2E1A"/>
          </a:solidFill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457200" y="5623560"/>
            <a:ext cx="1280160" cy="987552"/>
          </a:xfrm>
          <a:prstGeom prst="rect">
            <a:avLst/>
          </a:prstGeom>
          <a:solidFill>
            <a:srgbClr val="15803D"/>
          </a:solidFill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457200" y="5879592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IIT</a:t>
            </a:r>
            <a:endParaRPr lang="en-US" sz="2000" dirty="0"/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1920240" y="5715000"/>
            <a:ext cx="9601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研究者发起的临床试验 / Investigator-Initiated Trial</a:t>
            </a:r>
            <a:endParaRPr lang="en-US" sz="1300" dirty="0"/>
          </a:p>
        </p:txBody>
      </p:sp>
      <p:sp>
        <p:nvSpPr>
          <p:cNvPr id="28" name="Text 26"/>
          <p:cNvSpPr/>
          <p:nvPr>
            <p:custDataLst>
              <p:tags r:id="rId25"/>
            </p:custDataLst>
          </p:nvPr>
        </p:nvSpPr>
        <p:spPr>
          <a:xfrm>
            <a:off x="1920240" y="6135624"/>
            <a:ext cx="9601200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7C4B3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IIT（研究者发起的临床试验）由临床机构研究者发起和主导，区别于申办方发起的试验（Sponsor-Initiated Trial/SIT）。IIT的试验方案（Study Protocol）须经机构伦理委员会（IRB）审批，并向NMPA进行登记备案。IIT数据可支持NDA/sNDA的补充申请。</a:t>
            </a:r>
            <a:endParaRPr lang="en-US" sz="1150" dirty="0"/>
          </a:p>
        </p:txBody>
      </p:sp>
      <p:sp>
        <p:nvSpPr>
          <p:cNvPr id="29" name="Text 0"/>
          <p:cNvSpPr/>
          <p:nvPr/>
        </p:nvSpPr>
        <p:spPr>
          <a:xfrm>
            <a:off x="584200" y="309880"/>
            <a:ext cx="11247120" cy="59436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临床试验专用缩写手册</a:t>
            </a:r>
            <a:endParaRPr lang="en-US" sz="2600" b="1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64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65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66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67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68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69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70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71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72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73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74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75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76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77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78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79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80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81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82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83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84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85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86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ags/tag87.xml><?xml version="1.0" encoding="utf-8"?>
<p:tagLst xmlns:p="http://schemas.openxmlformats.org/presentationml/2006/main">
  <p:tag name="KSO_WM_DIAGRAM_VIRTUALLY_FRAME" val="{&quot;height&quot;:423.36,&quot;left&quot;:36,&quot;top&quot;:97.2,&quot;width&quot;:885.6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</Words>
  <Application>WPS 演示</Application>
  <PresentationFormat>宽屏</PresentationFormat>
  <Paragraphs>36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Calibri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。。。。。</cp:lastModifiedBy>
  <cp:revision>155</cp:revision>
  <dcterms:created xsi:type="dcterms:W3CDTF">2019-06-19T02:08:00Z</dcterms:created>
  <dcterms:modified xsi:type="dcterms:W3CDTF">2026-08-13T05:57:21Z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A93B32DCD026460CAAAC39F362833383_11</vt:lpwstr>
  </property>
</Properties>
</file>